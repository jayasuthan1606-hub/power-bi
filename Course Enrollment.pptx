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7CC93E-F20F-4A1B-A1AE-2053C054835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DDB1C1F5-9A9A-4E01-823C-CDF3EDB51641}">
      <dgm:prSet/>
      <dgm:spPr/>
      <dgm:t>
        <a:bodyPr/>
        <a:lstStyle/>
        <a:p>
          <a:r>
            <a:rPr lang="en-US" b="0" i="0" baseline="0"/>
            <a:t>Focus marketing on 20–30 age group</a:t>
          </a:r>
          <a:endParaRPr lang="en-US"/>
        </a:p>
      </dgm:t>
    </dgm:pt>
    <dgm:pt modelId="{0426A8F2-85BF-4E5C-8579-0DE147B7767A}" type="parTrans" cxnId="{601D1FD2-9F44-4E08-8309-B82D6CA4DAA3}">
      <dgm:prSet/>
      <dgm:spPr/>
      <dgm:t>
        <a:bodyPr/>
        <a:lstStyle/>
        <a:p>
          <a:endParaRPr lang="en-US"/>
        </a:p>
      </dgm:t>
    </dgm:pt>
    <dgm:pt modelId="{D8DFAD26-911D-444D-8773-E32C5C7EAAD8}" type="sibTrans" cxnId="{601D1FD2-9F44-4E08-8309-B82D6CA4DAA3}">
      <dgm:prSet/>
      <dgm:spPr/>
      <dgm:t>
        <a:bodyPr/>
        <a:lstStyle/>
        <a:p>
          <a:endParaRPr lang="en-US"/>
        </a:p>
      </dgm:t>
    </dgm:pt>
    <dgm:pt modelId="{5CB82B88-A858-4465-B594-0474F508F541}">
      <dgm:prSet/>
      <dgm:spPr/>
      <dgm:t>
        <a:bodyPr/>
        <a:lstStyle/>
        <a:p>
          <a:r>
            <a:rPr lang="en-US" b="0" i="0" baseline="0"/>
            <a:t>Improve certification completion strategy</a:t>
          </a:r>
          <a:endParaRPr lang="en-US"/>
        </a:p>
      </dgm:t>
    </dgm:pt>
    <dgm:pt modelId="{E6D8D89B-A591-4631-A09C-20F670F98B4B}" type="parTrans" cxnId="{0B7499C5-83F5-496E-9C9D-89A2AD267C25}">
      <dgm:prSet/>
      <dgm:spPr/>
      <dgm:t>
        <a:bodyPr/>
        <a:lstStyle/>
        <a:p>
          <a:endParaRPr lang="en-US"/>
        </a:p>
      </dgm:t>
    </dgm:pt>
    <dgm:pt modelId="{FB0BC7BE-34BE-4479-941B-312444719A52}" type="sibTrans" cxnId="{0B7499C5-83F5-496E-9C9D-89A2AD267C25}">
      <dgm:prSet/>
      <dgm:spPr/>
      <dgm:t>
        <a:bodyPr/>
        <a:lstStyle/>
        <a:p>
          <a:endParaRPr lang="en-US"/>
        </a:p>
      </dgm:t>
    </dgm:pt>
    <dgm:pt modelId="{9CFBB914-6862-4267-B960-278990578E72}">
      <dgm:prSet/>
      <dgm:spPr/>
      <dgm:t>
        <a:bodyPr/>
        <a:lstStyle/>
        <a:p>
          <a:r>
            <a:rPr lang="en-US" b="0" i="0" baseline="0"/>
            <a:t>Promote high-revenue software courses</a:t>
          </a:r>
          <a:endParaRPr lang="en-US"/>
        </a:p>
      </dgm:t>
    </dgm:pt>
    <dgm:pt modelId="{06052A69-F5A7-4CC6-AB0B-38AFA5021173}" type="parTrans" cxnId="{67DCDA44-3C1F-4F00-96E7-806663E0DD11}">
      <dgm:prSet/>
      <dgm:spPr/>
      <dgm:t>
        <a:bodyPr/>
        <a:lstStyle/>
        <a:p>
          <a:endParaRPr lang="en-US"/>
        </a:p>
      </dgm:t>
    </dgm:pt>
    <dgm:pt modelId="{6B777728-E1E6-4090-92E2-CBE01F4B7BA5}" type="sibTrans" cxnId="{67DCDA44-3C1F-4F00-96E7-806663E0DD11}">
      <dgm:prSet/>
      <dgm:spPr/>
      <dgm:t>
        <a:bodyPr/>
        <a:lstStyle/>
        <a:p>
          <a:endParaRPr lang="en-US"/>
        </a:p>
      </dgm:t>
    </dgm:pt>
    <dgm:pt modelId="{19333BE0-1DE2-43A4-A723-0D8AE058F358}">
      <dgm:prSet/>
      <dgm:spPr/>
      <dgm:t>
        <a:bodyPr/>
        <a:lstStyle/>
        <a:p>
          <a:r>
            <a:rPr lang="en-US" b="0" i="0" baseline="0"/>
            <a:t>Introduce beginner-level short-term programs</a:t>
          </a:r>
          <a:endParaRPr lang="en-US"/>
        </a:p>
      </dgm:t>
    </dgm:pt>
    <dgm:pt modelId="{943DE089-7B91-4B8D-A24F-0C3DCF937232}" type="parTrans" cxnId="{54E17801-8748-40A6-917A-37FFDB701580}">
      <dgm:prSet/>
      <dgm:spPr/>
      <dgm:t>
        <a:bodyPr/>
        <a:lstStyle/>
        <a:p>
          <a:endParaRPr lang="en-US"/>
        </a:p>
      </dgm:t>
    </dgm:pt>
    <dgm:pt modelId="{9A4D0CF8-B49A-49D3-9656-2888C61A9340}" type="sibTrans" cxnId="{54E17801-8748-40A6-917A-37FFDB701580}">
      <dgm:prSet/>
      <dgm:spPr/>
      <dgm:t>
        <a:bodyPr/>
        <a:lstStyle/>
        <a:p>
          <a:endParaRPr lang="en-US"/>
        </a:p>
      </dgm:t>
    </dgm:pt>
    <dgm:pt modelId="{3CB2D69E-E570-41B0-BEF6-77C9F8D62F2E}">
      <dgm:prSet/>
      <dgm:spPr/>
      <dgm:t>
        <a:bodyPr/>
        <a:lstStyle/>
        <a:p>
          <a:r>
            <a:rPr lang="en-US" b="0" i="0" baseline="0"/>
            <a:t>Offer festive discounts during low months</a:t>
          </a:r>
          <a:endParaRPr lang="en-US"/>
        </a:p>
      </dgm:t>
    </dgm:pt>
    <dgm:pt modelId="{0448C20B-1280-40A0-89C9-A4DDA3C62497}" type="parTrans" cxnId="{F9022682-5CCB-4076-AA60-AF97FE69E425}">
      <dgm:prSet/>
      <dgm:spPr/>
      <dgm:t>
        <a:bodyPr/>
        <a:lstStyle/>
        <a:p>
          <a:endParaRPr lang="en-US"/>
        </a:p>
      </dgm:t>
    </dgm:pt>
    <dgm:pt modelId="{2A318E70-2790-4E8B-B8CF-1FF12DA6F234}" type="sibTrans" cxnId="{F9022682-5CCB-4076-AA60-AF97FE69E425}">
      <dgm:prSet/>
      <dgm:spPr/>
      <dgm:t>
        <a:bodyPr/>
        <a:lstStyle/>
        <a:p>
          <a:endParaRPr lang="en-US"/>
        </a:p>
      </dgm:t>
    </dgm:pt>
    <dgm:pt modelId="{57FC8BD2-7694-4A68-9DBF-C18573157868}" type="pres">
      <dgm:prSet presAssocID="{647CC93E-F20F-4A1B-A1AE-2053C0548359}" presName="root" presStyleCnt="0">
        <dgm:presLayoutVars>
          <dgm:dir/>
          <dgm:resizeHandles val="exact"/>
        </dgm:presLayoutVars>
      </dgm:prSet>
      <dgm:spPr/>
    </dgm:pt>
    <dgm:pt modelId="{730DE388-7AB9-46A0-AD0A-0B7F9749C2ED}" type="pres">
      <dgm:prSet presAssocID="{DDB1C1F5-9A9A-4E01-823C-CDF3EDB51641}" presName="compNode" presStyleCnt="0"/>
      <dgm:spPr/>
    </dgm:pt>
    <dgm:pt modelId="{4094AF3C-B6FB-4F69-9D08-943747D43C18}" type="pres">
      <dgm:prSet presAssocID="{DDB1C1F5-9A9A-4E01-823C-CDF3EDB5164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990E327-FE08-4CA3-8567-E93A34432A13}" type="pres">
      <dgm:prSet presAssocID="{DDB1C1F5-9A9A-4E01-823C-CDF3EDB51641}" presName="spaceRect" presStyleCnt="0"/>
      <dgm:spPr/>
    </dgm:pt>
    <dgm:pt modelId="{74277D81-8769-409D-B49F-D8146C4B5490}" type="pres">
      <dgm:prSet presAssocID="{DDB1C1F5-9A9A-4E01-823C-CDF3EDB51641}" presName="textRect" presStyleLbl="revTx" presStyleIdx="0" presStyleCnt="5">
        <dgm:presLayoutVars>
          <dgm:chMax val="1"/>
          <dgm:chPref val="1"/>
        </dgm:presLayoutVars>
      </dgm:prSet>
      <dgm:spPr/>
    </dgm:pt>
    <dgm:pt modelId="{D4138095-CE7A-4486-B553-61A769C4A9C2}" type="pres">
      <dgm:prSet presAssocID="{D8DFAD26-911D-444D-8773-E32C5C7EAAD8}" presName="sibTrans" presStyleCnt="0"/>
      <dgm:spPr/>
    </dgm:pt>
    <dgm:pt modelId="{D380B424-3E92-45E7-AE51-190845DBC9A7}" type="pres">
      <dgm:prSet presAssocID="{5CB82B88-A858-4465-B594-0474F508F541}" presName="compNode" presStyleCnt="0"/>
      <dgm:spPr/>
    </dgm:pt>
    <dgm:pt modelId="{B05079B3-1493-4F5D-9027-E275E6915B40}" type="pres">
      <dgm:prSet presAssocID="{5CB82B88-A858-4465-B594-0474F508F54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A47DDC79-DDC3-40D7-955E-42EF598DD5B7}" type="pres">
      <dgm:prSet presAssocID="{5CB82B88-A858-4465-B594-0474F508F541}" presName="spaceRect" presStyleCnt="0"/>
      <dgm:spPr/>
    </dgm:pt>
    <dgm:pt modelId="{C20FDAF4-8A49-44A3-84CA-B200953C03B5}" type="pres">
      <dgm:prSet presAssocID="{5CB82B88-A858-4465-B594-0474F508F541}" presName="textRect" presStyleLbl="revTx" presStyleIdx="1" presStyleCnt="5">
        <dgm:presLayoutVars>
          <dgm:chMax val="1"/>
          <dgm:chPref val="1"/>
        </dgm:presLayoutVars>
      </dgm:prSet>
      <dgm:spPr/>
    </dgm:pt>
    <dgm:pt modelId="{3ACD9E3C-0CFF-41B3-92CE-1304A6829246}" type="pres">
      <dgm:prSet presAssocID="{FB0BC7BE-34BE-4479-941B-312444719A52}" presName="sibTrans" presStyleCnt="0"/>
      <dgm:spPr/>
    </dgm:pt>
    <dgm:pt modelId="{14717AA8-F19E-42C4-A06D-56D409908DAE}" type="pres">
      <dgm:prSet presAssocID="{9CFBB914-6862-4267-B960-278990578E72}" presName="compNode" presStyleCnt="0"/>
      <dgm:spPr/>
    </dgm:pt>
    <dgm:pt modelId="{31141C2D-4DF3-48DA-A7B6-4B623B183441}" type="pres">
      <dgm:prSet presAssocID="{9CFBB914-6862-4267-B960-278990578E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58E18C3-090E-4B19-8B89-5A7CCBCD6B08}" type="pres">
      <dgm:prSet presAssocID="{9CFBB914-6862-4267-B960-278990578E72}" presName="spaceRect" presStyleCnt="0"/>
      <dgm:spPr/>
    </dgm:pt>
    <dgm:pt modelId="{99F0CF5D-7C72-405A-8647-62D9241F4225}" type="pres">
      <dgm:prSet presAssocID="{9CFBB914-6862-4267-B960-278990578E72}" presName="textRect" presStyleLbl="revTx" presStyleIdx="2" presStyleCnt="5">
        <dgm:presLayoutVars>
          <dgm:chMax val="1"/>
          <dgm:chPref val="1"/>
        </dgm:presLayoutVars>
      </dgm:prSet>
      <dgm:spPr/>
    </dgm:pt>
    <dgm:pt modelId="{776C8228-36B3-46B5-86EC-F01CD22A5D96}" type="pres">
      <dgm:prSet presAssocID="{6B777728-E1E6-4090-92E2-CBE01F4B7BA5}" presName="sibTrans" presStyleCnt="0"/>
      <dgm:spPr/>
    </dgm:pt>
    <dgm:pt modelId="{F1D0F3CD-A8C9-4623-83C6-6B210A76154B}" type="pres">
      <dgm:prSet presAssocID="{19333BE0-1DE2-43A4-A723-0D8AE058F358}" presName="compNode" presStyleCnt="0"/>
      <dgm:spPr/>
    </dgm:pt>
    <dgm:pt modelId="{3FE50BF6-7E42-4523-BCDE-4D23B2E7B6A8}" type="pres">
      <dgm:prSet presAssocID="{19333BE0-1DE2-43A4-A723-0D8AE058F35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ketball"/>
        </a:ext>
      </dgm:extLst>
    </dgm:pt>
    <dgm:pt modelId="{A99825E3-13D7-462C-A391-D12416DB0F80}" type="pres">
      <dgm:prSet presAssocID="{19333BE0-1DE2-43A4-A723-0D8AE058F358}" presName="spaceRect" presStyleCnt="0"/>
      <dgm:spPr/>
    </dgm:pt>
    <dgm:pt modelId="{4E575D57-D6BC-4313-8A85-9BED0886D4B1}" type="pres">
      <dgm:prSet presAssocID="{19333BE0-1DE2-43A4-A723-0D8AE058F358}" presName="textRect" presStyleLbl="revTx" presStyleIdx="3" presStyleCnt="5">
        <dgm:presLayoutVars>
          <dgm:chMax val="1"/>
          <dgm:chPref val="1"/>
        </dgm:presLayoutVars>
      </dgm:prSet>
      <dgm:spPr/>
    </dgm:pt>
    <dgm:pt modelId="{32A6FC96-08F3-44D4-8752-2D5EBD8A365D}" type="pres">
      <dgm:prSet presAssocID="{9A4D0CF8-B49A-49D3-9656-2888C61A9340}" presName="sibTrans" presStyleCnt="0"/>
      <dgm:spPr/>
    </dgm:pt>
    <dgm:pt modelId="{509AD627-85B4-464E-A803-D1D7E04DA4A5}" type="pres">
      <dgm:prSet presAssocID="{3CB2D69E-E570-41B0-BEF6-77C9F8D62F2E}" presName="compNode" presStyleCnt="0"/>
      <dgm:spPr/>
    </dgm:pt>
    <dgm:pt modelId="{E7BCA2F7-64F8-4D23-B166-677D8F3A0188}" type="pres">
      <dgm:prSet presAssocID="{3CB2D69E-E570-41B0-BEF6-77C9F8D62F2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0FA2F2A-E086-4D55-866F-FAC192819A7F}" type="pres">
      <dgm:prSet presAssocID="{3CB2D69E-E570-41B0-BEF6-77C9F8D62F2E}" presName="spaceRect" presStyleCnt="0"/>
      <dgm:spPr/>
    </dgm:pt>
    <dgm:pt modelId="{2DED6F61-3B95-4238-97B1-00C820D91EAB}" type="pres">
      <dgm:prSet presAssocID="{3CB2D69E-E570-41B0-BEF6-77C9F8D62F2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4E17801-8748-40A6-917A-37FFDB701580}" srcId="{647CC93E-F20F-4A1B-A1AE-2053C0548359}" destId="{19333BE0-1DE2-43A4-A723-0D8AE058F358}" srcOrd="3" destOrd="0" parTransId="{943DE089-7B91-4B8D-A24F-0C3DCF937232}" sibTransId="{9A4D0CF8-B49A-49D3-9656-2888C61A9340}"/>
    <dgm:cxn modelId="{BE5A9939-A12F-4B07-A6F6-E5A7E9E334D1}" type="presOf" srcId="{3CB2D69E-E570-41B0-BEF6-77C9F8D62F2E}" destId="{2DED6F61-3B95-4238-97B1-00C820D91EAB}" srcOrd="0" destOrd="0" presId="urn:microsoft.com/office/officeart/2018/2/layout/IconLabelList"/>
    <dgm:cxn modelId="{67DCDA44-3C1F-4F00-96E7-806663E0DD11}" srcId="{647CC93E-F20F-4A1B-A1AE-2053C0548359}" destId="{9CFBB914-6862-4267-B960-278990578E72}" srcOrd="2" destOrd="0" parTransId="{06052A69-F5A7-4CC6-AB0B-38AFA5021173}" sibTransId="{6B777728-E1E6-4090-92E2-CBE01F4B7BA5}"/>
    <dgm:cxn modelId="{F9022682-5CCB-4076-AA60-AF97FE69E425}" srcId="{647CC93E-F20F-4A1B-A1AE-2053C0548359}" destId="{3CB2D69E-E570-41B0-BEF6-77C9F8D62F2E}" srcOrd="4" destOrd="0" parTransId="{0448C20B-1280-40A0-89C9-A4DDA3C62497}" sibTransId="{2A318E70-2790-4E8B-B8CF-1FF12DA6F234}"/>
    <dgm:cxn modelId="{A2EF8AAD-8624-4F90-9FC6-B04109D5C167}" type="presOf" srcId="{19333BE0-1DE2-43A4-A723-0D8AE058F358}" destId="{4E575D57-D6BC-4313-8A85-9BED0886D4B1}" srcOrd="0" destOrd="0" presId="urn:microsoft.com/office/officeart/2018/2/layout/IconLabelList"/>
    <dgm:cxn modelId="{9B0D92BD-F019-4993-A61C-CF6784B55E8C}" type="presOf" srcId="{DDB1C1F5-9A9A-4E01-823C-CDF3EDB51641}" destId="{74277D81-8769-409D-B49F-D8146C4B5490}" srcOrd="0" destOrd="0" presId="urn:microsoft.com/office/officeart/2018/2/layout/IconLabelList"/>
    <dgm:cxn modelId="{0B7499C5-83F5-496E-9C9D-89A2AD267C25}" srcId="{647CC93E-F20F-4A1B-A1AE-2053C0548359}" destId="{5CB82B88-A858-4465-B594-0474F508F541}" srcOrd="1" destOrd="0" parTransId="{E6D8D89B-A591-4631-A09C-20F670F98B4B}" sibTransId="{FB0BC7BE-34BE-4479-941B-312444719A52}"/>
    <dgm:cxn modelId="{EF67BECA-03CA-47A2-BFC6-18EFF8E283AC}" type="presOf" srcId="{9CFBB914-6862-4267-B960-278990578E72}" destId="{99F0CF5D-7C72-405A-8647-62D9241F4225}" srcOrd="0" destOrd="0" presId="urn:microsoft.com/office/officeart/2018/2/layout/IconLabelList"/>
    <dgm:cxn modelId="{676487CB-C346-40AC-86C2-C06D08C34757}" type="presOf" srcId="{647CC93E-F20F-4A1B-A1AE-2053C0548359}" destId="{57FC8BD2-7694-4A68-9DBF-C18573157868}" srcOrd="0" destOrd="0" presId="urn:microsoft.com/office/officeart/2018/2/layout/IconLabelList"/>
    <dgm:cxn modelId="{601D1FD2-9F44-4E08-8309-B82D6CA4DAA3}" srcId="{647CC93E-F20F-4A1B-A1AE-2053C0548359}" destId="{DDB1C1F5-9A9A-4E01-823C-CDF3EDB51641}" srcOrd="0" destOrd="0" parTransId="{0426A8F2-85BF-4E5C-8579-0DE147B7767A}" sibTransId="{D8DFAD26-911D-444D-8773-E32C5C7EAAD8}"/>
    <dgm:cxn modelId="{C7C0DBDB-9A4C-4925-AC17-CD738BAB81C6}" type="presOf" srcId="{5CB82B88-A858-4465-B594-0474F508F541}" destId="{C20FDAF4-8A49-44A3-84CA-B200953C03B5}" srcOrd="0" destOrd="0" presId="urn:microsoft.com/office/officeart/2018/2/layout/IconLabelList"/>
    <dgm:cxn modelId="{2CBCB89D-8E8B-47B7-AF36-4030084F9F4E}" type="presParOf" srcId="{57FC8BD2-7694-4A68-9DBF-C18573157868}" destId="{730DE388-7AB9-46A0-AD0A-0B7F9749C2ED}" srcOrd="0" destOrd="0" presId="urn:microsoft.com/office/officeart/2018/2/layout/IconLabelList"/>
    <dgm:cxn modelId="{27EB4784-FCAF-44EA-A8FC-E957E9B0A809}" type="presParOf" srcId="{730DE388-7AB9-46A0-AD0A-0B7F9749C2ED}" destId="{4094AF3C-B6FB-4F69-9D08-943747D43C18}" srcOrd="0" destOrd="0" presId="urn:microsoft.com/office/officeart/2018/2/layout/IconLabelList"/>
    <dgm:cxn modelId="{1C24CEDF-F19E-42EE-B4DA-5C131F6D1A9C}" type="presParOf" srcId="{730DE388-7AB9-46A0-AD0A-0B7F9749C2ED}" destId="{1990E327-FE08-4CA3-8567-E93A34432A13}" srcOrd="1" destOrd="0" presId="urn:microsoft.com/office/officeart/2018/2/layout/IconLabelList"/>
    <dgm:cxn modelId="{0A51EC0C-60B6-49F4-B1FC-84150E8C8647}" type="presParOf" srcId="{730DE388-7AB9-46A0-AD0A-0B7F9749C2ED}" destId="{74277D81-8769-409D-B49F-D8146C4B5490}" srcOrd="2" destOrd="0" presId="urn:microsoft.com/office/officeart/2018/2/layout/IconLabelList"/>
    <dgm:cxn modelId="{A0C5556C-2A79-4659-9131-3C9486929A79}" type="presParOf" srcId="{57FC8BD2-7694-4A68-9DBF-C18573157868}" destId="{D4138095-CE7A-4486-B553-61A769C4A9C2}" srcOrd="1" destOrd="0" presId="urn:microsoft.com/office/officeart/2018/2/layout/IconLabelList"/>
    <dgm:cxn modelId="{A66422B4-E6D6-4708-9D54-53F58842C056}" type="presParOf" srcId="{57FC8BD2-7694-4A68-9DBF-C18573157868}" destId="{D380B424-3E92-45E7-AE51-190845DBC9A7}" srcOrd="2" destOrd="0" presId="urn:microsoft.com/office/officeart/2018/2/layout/IconLabelList"/>
    <dgm:cxn modelId="{7102CFAF-C71B-489B-AFCB-DBA21C66CB36}" type="presParOf" srcId="{D380B424-3E92-45E7-AE51-190845DBC9A7}" destId="{B05079B3-1493-4F5D-9027-E275E6915B40}" srcOrd="0" destOrd="0" presId="urn:microsoft.com/office/officeart/2018/2/layout/IconLabelList"/>
    <dgm:cxn modelId="{5E893C2F-12B5-4B6D-9E1B-E18FAF21C8C4}" type="presParOf" srcId="{D380B424-3E92-45E7-AE51-190845DBC9A7}" destId="{A47DDC79-DDC3-40D7-955E-42EF598DD5B7}" srcOrd="1" destOrd="0" presId="urn:microsoft.com/office/officeart/2018/2/layout/IconLabelList"/>
    <dgm:cxn modelId="{9F59C241-B0D9-496B-AF56-B8783A706736}" type="presParOf" srcId="{D380B424-3E92-45E7-AE51-190845DBC9A7}" destId="{C20FDAF4-8A49-44A3-84CA-B200953C03B5}" srcOrd="2" destOrd="0" presId="urn:microsoft.com/office/officeart/2018/2/layout/IconLabelList"/>
    <dgm:cxn modelId="{AA06B462-B6B6-4956-A74A-241F08477CAA}" type="presParOf" srcId="{57FC8BD2-7694-4A68-9DBF-C18573157868}" destId="{3ACD9E3C-0CFF-41B3-92CE-1304A6829246}" srcOrd="3" destOrd="0" presId="urn:microsoft.com/office/officeart/2018/2/layout/IconLabelList"/>
    <dgm:cxn modelId="{464712B9-88AB-4A26-A2F2-254B3FEBFD91}" type="presParOf" srcId="{57FC8BD2-7694-4A68-9DBF-C18573157868}" destId="{14717AA8-F19E-42C4-A06D-56D409908DAE}" srcOrd="4" destOrd="0" presId="urn:microsoft.com/office/officeart/2018/2/layout/IconLabelList"/>
    <dgm:cxn modelId="{23EF25BF-E16C-459A-9A6F-F95CAC997826}" type="presParOf" srcId="{14717AA8-F19E-42C4-A06D-56D409908DAE}" destId="{31141C2D-4DF3-48DA-A7B6-4B623B183441}" srcOrd="0" destOrd="0" presId="urn:microsoft.com/office/officeart/2018/2/layout/IconLabelList"/>
    <dgm:cxn modelId="{47409E9F-EE80-4304-BEE8-6B3901FE0366}" type="presParOf" srcId="{14717AA8-F19E-42C4-A06D-56D409908DAE}" destId="{558E18C3-090E-4B19-8B89-5A7CCBCD6B08}" srcOrd="1" destOrd="0" presId="urn:microsoft.com/office/officeart/2018/2/layout/IconLabelList"/>
    <dgm:cxn modelId="{0A3586B1-BACE-437D-838B-4A7BE7E087AF}" type="presParOf" srcId="{14717AA8-F19E-42C4-A06D-56D409908DAE}" destId="{99F0CF5D-7C72-405A-8647-62D9241F4225}" srcOrd="2" destOrd="0" presId="urn:microsoft.com/office/officeart/2018/2/layout/IconLabelList"/>
    <dgm:cxn modelId="{2D1D6118-B88C-4D84-BD35-C2E8D1115D3D}" type="presParOf" srcId="{57FC8BD2-7694-4A68-9DBF-C18573157868}" destId="{776C8228-36B3-46B5-86EC-F01CD22A5D96}" srcOrd="5" destOrd="0" presId="urn:microsoft.com/office/officeart/2018/2/layout/IconLabelList"/>
    <dgm:cxn modelId="{56C89C98-E837-4D10-A122-9FD49CE0D998}" type="presParOf" srcId="{57FC8BD2-7694-4A68-9DBF-C18573157868}" destId="{F1D0F3CD-A8C9-4623-83C6-6B210A76154B}" srcOrd="6" destOrd="0" presId="urn:microsoft.com/office/officeart/2018/2/layout/IconLabelList"/>
    <dgm:cxn modelId="{63C787EF-1DD9-40A2-B708-63BF1BCE9AFB}" type="presParOf" srcId="{F1D0F3CD-A8C9-4623-83C6-6B210A76154B}" destId="{3FE50BF6-7E42-4523-BCDE-4D23B2E7B6A8}" srcOrd="0" destOrd="0" presId="urn:microsoft.com/office/officeart/2018/2/layout/IconLabelList"/>
    <dgm:cxn modelId="{97494D06-19F4-436A-B274-22DCAA054832}" type="presParOf" srcId="{F1D0F3CD-A8C9-4623-83C6-6B210A76154B}" destId="{A99825E3-13D7-462C-A391-D12416DB0F80}" srcOrd="1" destOrd="0" presId="urn:microsoft.com/office/officeart/2018/2/layout/IconLabelList"/>
    <dgm:cxn modelId="{57A61A8F-D796-48D4-AC70-8AAFA9E9085A}" type="presParOf" srcId="{F1D0F3CD-A8C9-4623-83C6-6B210A76154B}" destId="{4E575D57-D6BC-4313-8A85-9BED0886D4B1}" srcOrd="2" destOrd="0" presId="urn:microsoft.com/office/officeart/2018/2/layout/IconLabelList"/>
    <dgm:cxn modelId="{5455E15C-B9D5-4AB1-866A-D96ECB052CB5}" type="presParOf" srcId="{57FC8BD2-7694-4A68-9DBF-C18573157868}" destId="{32A6FC96-08F3-44D4-8752-2D5EBD8A365D}" srcOrd="7" destOrd="0" presId="urn:microsoft.com/office/officeart/2018/2/layout/IconLabelList"/>
    <dgm:cxn modelId="{83B0E2DE-D72E-4648-A93E-7A1C802911D1}" type="presParOf" srcId="{57FC8BD2-7694-4A68-9DBF-C18573157868}" destId="{509AD627-85B4-464E-A803-D1D7E04DA4A5}" srcOrd="8" destOrd="0" presId="urn:microsoft.com/office/officeart/2018/2/layout/IconLabelList"/>
    <dgm:cxn modelId="{8FDB939C-4443-4E2D-945A-593EBA3864DC}" type="presParOf" srcId="{509AD627-85B4-464E-A803-D1D7E04DA4A5}" destId="{E7BCA2F7-64F8-4D23-B166-677D8F3A0188}" srcOrd="0" destOrd="0" presId="urn:microsoft.com/office/officeart/2018/2/layout/IconLabelList"/>
    <dgm:cxn modelId="{EE2A965A-29D4-41C7-990E-019DFA6D680C}" type="presParOf" srcId="{509AD627-85B4-464E-A803-D1D7E04DA4A5}" destId="{00FA2F2A-E086-4D55-866F-FAC192819A7F}" srcOrd="1" destOrd="0" presId="urn:microsoft.com/office/officeart/2018/2/layout/IconLabelList"/>
    <dgm:cxn modelId="{B7A493DA-6032-49C0-9816-76F8752EE167}" type="presParOf" srcId="{509AD627-85B4-464E-A803-D1D7E04DA4A5}" destId="{2DED6F61-3B95-4238-97B1-00C820D91EA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4AF3C-B6FB-4F69-9D08-943747D43C18}">
      <dsp:nvSpPr>
        <dsp:cNvPr id="0" name=""/>
        <dsp:cNvSpPr/>
      </dsp:nvSpPr>
      <dsp:spPr>
        <a:xfrm>
          <a:off x="622800" y="107442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77D81-8769-409D-B49F-D8146C4B5490}">
      <dsp:nvSpPr>
        <dsp:cNvPr id="0" name=""/>
        <dsp:cNvSpPr/>
      </dsp:nvSpPr>
      <dsp:spPr>
        <a:xfrm>
          <a:off x="127800" y="215444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Focus marketing on 20–30 age group</a:t>
          </a:r>
          <a:endParaRPr lang="en-US" sz="1600" kern="1200"/>
        </a:p>
      </dsp:txBody>
      <dsp:txXfrm>
        <a:off x="127800" y="2154447"/>
        <a:ext cx="1800000" cy="720000"/>
      </dsp:txXfrm>
    </dsp:sp>
    <dsp:sp modelId="{B05079B3-1493-4F5D-9027-E275E6915B40}">
      <dsp:nvSpPr>
        <dsp:cNvPr id="0" name=""/>
        <dsp:cNvSpPr/>
      </dsp:nvSpPr>
      <dsp:spPr>
        <a:xfrm>
          <a:off x="2737800" y="107442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FDAF4-8A49-44A3-84CA-B200953C03B5}">
      <dsp:nvSpPr>
        <dsp:cNvPr id="0" name=""/>
        <dsp:cNvSpPr/>
      </dsp:nvSpPr>
      <dsp:spPr>
        <a:xfrm>
          <a:off x="2242800" y="215444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Improve certification completion strategy</a:t>
          </a:r>
          <a:endParaRPr lang="en-US" sz="1600" kern="1200"/>
        </a:p>
      </dsp:txBody>
      <dsp:txXfrm>
        <a:off x="2242800" y="2154447"/>
        <a:ext cx="1800000" cy="720000"/>
      </dsp:txXfrm>
    </dsp:sp>
    <dsp:sp modelId="{31141C2D-4DF3-48DA-A7B6-4B623B183441}">
      <dsp:nvSpPr>
        <dsp:cNvPr id="0" name=""/>
        <dsp:cNvSpPr/>
      </dsp:nvSpPr>
      <dsp:spPr>
        <a:xfrm>
          <a:off x="4852800" y="107442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0CF5D-7C72-405A-8647-62D9241F4225}">
      <dsp:nvSpPr>
        <dsp:cNvPr id="0" name=""/>
        <dsp:cNvSpPr/>
      </dsp:nvSpPr>
      <dsp:spPr>
        <a:xfrm>
          <a:off x="4357800" y="215444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Promote high-revenue software courses</a:t>
          </a:r>
          <a:endParaRPr lang="en-US" sz="1600" kern="1200"/>
        </a:p>
      </dsp:txBody>
      <dsp:txXfrm>
        <a:off x="4357800" y="2154447"/>
        <a:ext cx="1800000" cy="720000"/>
      </dsp:txXfrm>
    </dsp:sp>
    <dsp:sp modelId="{3FE50BF6-7E42-4523-BCDE-4D23B2E7B6A8}">
      <dsp:nvSpPr>
        <dsp:cNvPr id="0" name=""/>
        <dsp:cNvSpPr/>
      </dsp:nvSpPr>
      <dsp:spPr>
        <a:xfrm>
          <a:off x="6967800" y="1074428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75D57-D6BC-4313-8A85-9BED0886D4B1}">
      <dsp:nvSpPr>
        <dsp:cNvPr id="0" name=""/>
        <dsp:cNvSpPr/>
      </dsp:nvSpPr>
      <dsp:spPr>
        <a:xfrm>
          <a:off x="6472800" y="215444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Introduce beginner-level short-term programs</a:t>
          </a:r>
          <a:endParaRPr lang="en-US" sz="1600" kern="1200"/>
        </a:p>
      </dsp:txBody>
      <dsp:txXfrm>
        <a:off x="6472800" y="2154447"/>
        <a:ext cx="1800000" cy="720000"/>
      </dsp:txXfrm>
    </dsp:sp>
    <dsp:sp modelId="{E7BCA2F7-64F8-4D23-B166-677D8F3A0188}">
      <dsp:nvSpPr>
        <dsp:cNvPr id="0" name=""/>
        <dsp:cNvSpPr/>
      </dsp:nvSpPr>
      <dsp:spPr>
        <a:xfrm>
          <a:off x="9082800" y="1074428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D6F61-3B95-4238-97B1-00C820D91EAB}">
      <dsp:nvSpPr>
        <dsp:cNvPr id="0" name=""/>
        <dsp:cNvSpPr/>
      </dsp:nvSpPr>
      <dsp:spPr>
        <a:xfrm>
          <a:off x="8587800" y="215444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Offer festive discounts during low months</a:t>
          </a:r>
          <a:endParaRPr lang="en-US" sz="1600" kern="1200"/>
        </a:p>
      </dsp:txBody>
      <dsp:txXfrm>
        <a:off x="8587800" y="2154447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62D06-0E4A-FD25-1CF7-E1797603D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033C0-1F95-3521-4A52-660CD9E24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536F8-9E9E-0653-F81B-7376C171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46B32-E017-6C83-820A-C4FB6A966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E94D-EDBB-35BE-C52E-833DF523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59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D875-5101-6739-BAC3-916035CCE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CFFC9-7AF0-322D-2E0E-C661A27CA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CF799-E833-6C3B-17A8-A68B6E48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98ABB-DEFA-5295-8A2F-55E600C1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9CDC1-993C-6CF2-4546-FC4D39E8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4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14E6-470B-E283-974A-C4169481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0B298-8C03-5AD3-1B6A-C1A7863A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F885F-82C3-8116-463D-70595FE0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A938B-EED3-04FF-ECE4-6F023F27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D1EBF-5895-487D-F371-2353F504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61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C97EF-C9DF-63FF-E98D-2BCB5524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E935E-45CF-80D9-E835-C19264B99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AE3F5-68D0-D77A-8D75-D1AF22DF1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D9426-22EF-1381-0661-51D580C2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78236-68FB-43EB-6F5B-48E8147A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FE2C1-081E-77A3-E620-91DF8DF7B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29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A5B7-01FA-1372-9143-21272E332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20BBA-080E-ED1A-EF6F-F66067BE5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49A0B-598C-5D7F-7A3B-E0AEEDFC5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21D80-F16A-B97A-98FB-D30167218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44214-EC97-0172-6F9E-759D662B9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A9F731-11A7-7BF4-C338-47ACD12B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E7B04A-CAA6-4B3C-40EB-878B35304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E1509-0429-6BD2-B86D-0A77E3B6A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18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EEEC8-7CF9-0102-744D-A7050F03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21452-BE4E-7299-C547-F250C0AB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B95FC-62E2-AD27-4105-B8C7DF8E5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CC049-57BF-13B7-0D52-E2646803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888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B3138-C659-9495-477C-66835EC3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449B1-55DB-385E-54B8-69A7CE08E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26203-22FD-2867-0CD9-C849B58F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34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B996-B0C4-1C07-729D-31D383C26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BE344-E744-8AB9-87F0-0C676CDB1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E00A8-D78C-42F2-2F97-4667A14AE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F7AD-D36B-F021-698B-8250E9EE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6B71E-D634-97E4-170C-A0695ED5A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36F55-2DA4-5EFB-5F7F-0635A2E0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06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7963-9425-64E8-B66A-8F6FD57E7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B082C-64AB-B705-D9EE-BCD894D6D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CB2F3-6244-E623-E71B-EB0B0FEFC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CAEE6-B709-199C-9B6B-6EEAA487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D9805-A43F-32F4-98D8-790605C9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0F231-97A2-A482-2488-368449FE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67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60093-97E5-FE79-BB8F-054C653A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E291E-3298-A315-5C75-652BA521D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439-2DBC-C31B-78B3-D111C319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213E0-B40F-53AE-0B7D-5F1D0C328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BA230-71DE-37D1-24AE-2523E49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40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ED2A-CF55-704B-ABE5-69AFAD930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3F2EF-1543-5FB9-0538-1D7B00FD1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D26A9-176A-924A-B973-21AB51DBB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F1FD8-598E-716C-D5C2-8FF2E361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F4D2F-4372-8228-9B68-81EFF373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477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EDFDD4-6978-8438-0B10-AC5609FC5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FE6D-ABD2-29DD-8E20-82E44115D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DF2A2-E7B1-62CF-97AA-AD73159D8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28F71-A5D8-4CD5-AC06-F309807C950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BEF12-A947-73DA-72E7-645F55E08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BF78A-80A7-8232-868D-32DFE27DB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C1A40-DC3F-4D38-B20A-B31374C35B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4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BF8B6B63-B322-C349-D3E9-D94F00AB14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20" b="1451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C17D76-23EA-429E-935A-74342921E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Course Enrollment &amp; Revenue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08BBD-9780-E383-76D6-13D7B8D24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JS</a:t>
            </a:r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660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C60B1-15F7-BD19-7071-6C4EE32D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Introduction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A77BB-91A0-1809-4B52-62849137F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IN" sz="2200" b="1" dirty="0"/>
              <a:t>Project Name : Training Institute Performance Dashboard</a:t>
            </a:r>
            <a:endParaRPr lang="en-IN" sz="2200" dirty="0"/>
          </a:p>
          <a:p>
            <a:r>
              <a:rPr lang="en-IN" sz="2200" b="1" dirty="0"/>
              <a:t>Tools Used:</a:t>
            </a:r>
          </a:p>
          <a:p>
            <a:r>
              <a:rPr lang="en-IN" sz="2200" dirty="0"/>
              <a:t>Power BI</a:t>
            </a:r>
          </a:p>
          <a:p>
            <a:r>
              <a:rPr lang="en-IN" sz="2200" dirty="0"/>
              <a:t>Excel (Data Source)</a:t>
            </a:r>
          </a:p>
          <a:p>
            <a:r>
              <a:rPr lang="en-IN" sz="2200" dirty="0"/>
              <a:t>DAX</a:t>
            </a:r>
          </a:p>
          <a:p>
            <a:r>
              <a:rPr lang="en-IN" sz="2200" dirty="0"/>
              <a:t>Data Modelling</a:t>
            </a:r>
          </a:p>
          <a:p>
            <a:r>
              <a:rPr lang="en-IN" sz="2200" b="1" dirty="0"/>
              <a:t>Domain : </a:t>
            </a:r>
            <a:r>
              <a:rPr lang="en-IN" sz="2200" dirty="0"/>
              <a:t>Education / Training Institute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58890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93454E24-DCE3-C67F-B48A-C67024F1FF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42" r="-2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A24F3-7121-B716-88C1-B8C2104D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IN" sz="4000"/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EB5C-D502-182E-AB34-4F6D2B216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/>
              <a:t>Track revenue generated from each course</a:t>
            </a:r>
          </a:p>
          <a:p>
            <a:r>
              <a:rPr lang="en-US" sz="2000"/>
              <a:t>Monitor student enrollment trends monthly</a:t>
            </a:r>
          </a:p>
          <a:p>
            <a:r>
              <a:rPr lang="en-US" sz="2000"/>
              <a:t>Analyze age group distribution</a:t>
            </a:r>
          </a:p>
          <a:p>
            <a:r>
              <a:rPr lang="en-US" sz="2000"/>
              <a:t>Track issued certificates count</a:t>
            </a:r>
          </a:p>
          <a:p>
            <a:r>
              <a:rPr lang="en-US" sz="2000"/>
              <a:t>Identify high-demand courses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45074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B6DAC-BEF2-CDCC-5A45-8FA72C41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IN" sz="5400"/>
              <a:t>Dataset Information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685B1-DC1A-3D22-1715-4FAE27F2E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Data Fields:</a:t>
            </a:r>
          </a:p>
          <a:p>
            <a:r>
              <a:rPr lang="en-US" sz="2200"/>
              <a:t>Student ID</a:t>
            </a:r>
          </a:p>
          <a:p>
            <a:r>
              <a:rPr lang="en-US" sz="2200"/>
              <a:t>Course Name</a:t>
            </a:r>
          </a:p>
          <a:p>
            <a:r>
              <a:rPr lang="en-US" sz="2200"/>
              <a:t>Fees Paid</a:t>
            </a:r>
          </a:p>
          <a:p>
            <a:r>
              <a:rPr lang="en-US" sz="2200"/>
              <a:t>Enrollment Date</a:t>
            </a:r>
          </a:p>
          <a:p>
            <a:r>
              <a:rPr lang="en-US" sz="2200"/>
              <a:t>Age Group</a:t>
            </a:r>
          </a:p>
          <a:p>
            <a:r>
              <a:rPr lang="en-US" sz="2200"/>
              <a:t>Certificate Issued (Yes/No)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3605887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58D7-0D5B-96D8-22FA-6BF8F11D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Data Cleaning &amp; Preparation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B39DD-D0E6-7FD7-1B3C-300EF6AE4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Removed duplicate student records</a:t>
            </a:r>
            <a:br>
              <a:rPr lang="en-US" dirty="0"/>
            </a:br>
            <a:r>
              <a:rPr lang="en-US" dirty="0"/>
              <a:t>Standardized course names</a:t>
            </a:r>
            <a:br>
              <a:rPr lang="en-US" dirty="0"/>
            </a:br>
            <a:r>
              <a:rPr lang="en-US" dirty="0"/>
              <a:t>Converted date column into Month format</a:t>
            </a:r>
            <a:br>
              <a:rPr lang="en-US" dirty="0"/>
            </a:br>
            <a:r>
              <a:rPr lang="en-US" dirty="0"/>
              <a:t>Created Age Group column</a:t>
            </a:r>
            <a:br>
              <a:rPr lang="en-US" dirty="0"/>
            </a:br>
            <a:r>
              <a:rPr lang="en-US" dirty="0"/>
              <a:t>Checked null values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408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8C78D-B1EF-B768-8D5D-6AD9AC8F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CEBF139-45BB-2DC8-09A0-18B200EDB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900" b="1" dirty="0"/>
              <a:t>Visual</a:t>
            </a:r>
            <a:endParaRPr lang="en-US" sz="2900" b="1" dirty="0"/>
          </a:p>
          <a:p>
            <a:pPr>
              <a:lnSpc>
                <a:spcPct val="150000"/>
              </a:lnSpc>
            </a:pPr>
            <a:r>
              <a:rPr lang="en-US" sz="2400" dirty="0"/>
              <a:t>Sum of Fees by Course (Bar Chart)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Certificate Issued Gauge (504)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Course Count by Month (Column Chart)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Age Group Distribution (Donut Chart)</a:t>
            </a:r>
            <a:endParaRPr lang="en-IN" sz="2400" dirty="0"/>
          </a:p>
          <a:p>
            <a:endParaRPr lang="en-US" sz="2200" dirty="0"/>
          </a:p>
        </p:txBody>
      </p:sp>
      <p:pic>
        <p:nvPicPr>
          <p:cNvPr id="5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56074867-7A53-5BF2-CE79-324CB378A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530477"/>
            <a:ext cx="6903720" cy="379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2A7CA5-F335-6708-86F5-E80FCF3B4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IN" sz="4800"/>
              <a:t>Key Insights Summary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86FD-6D8E-E4E0-65FD-49D4BD8F9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Advanced software courses generate highest revenue</a:t>
            </a:r>
            <a:br>
              <a:rPr lang="en-US" sz="2200" dirty="0"/>
            </a:br>
            <a:r>
              <a:rPr lang="en-US" sz="2200" dirty="0"/>
              <a:t>Young adults dominate enrollment</a:t>
            </a:r>
            <a:br>
              <a:rPr lang="en-US" sz="2200" dirty="0"/>
            </a:br>
            <a:r>
              <a:rPr lang="en-US" sz="2200" dirty="0"/>
              <a:t>October &amp; April show peak demand</a:t>
            </a:r>
            <a:br>
              <a:rPr lang="en-US" sz="2200" dirty="0"/>
            </a:br>
            <a:r>
              <a:rPr lang="en-US" sz="2200" dirty="0"/>
              <a:t>Certificate completion rate needs improvement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2394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8D20D-F6F4-9621-B365-DDC23092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Business Recommendations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794759F-A3B2-8140-532E-10AD3BF9B9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38358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831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BE143-BE25-9CD0-DACF-7D1B88BF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07375F-B7DE-6205-0CAC-9207B0C745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Track revenue performance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Monitor student enrollment trends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Analyze demographic distribution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 certification success rate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Make data-driven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2061017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215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Course Enrollment &amp; Revenue Analysis Dashboard</vt:lpstr>
      <vt:lpstr>Introduction</vt:lpstr>
      <vt:lpstr>Business Problem Statement</vt:lpstr>
      <vt:lpstr>Dataset Information</vt:lpstr>
      <vt:lpstr>Data Cleaning &amp; Preparation</vt:lpstr>
      <vt:lpstr>PROJECT OVERVIEW</vt:lpstr>
      <vt:lpstr>Key Insights Summary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jayasutha n</dc:creator>
  <cp:lastModifiedBy>jayasutha n</cp:lastModifiedBy>
  <cp:revision>1</cp:revision>
  <dcterms:created xsi:type="dcterms:W3CDTF">2026-02-13T09:45:13Z</dcterms:created>
  <dcterms:modified xsi:type="dcterms:W3CDTF">2026-02-13T10:06:32Z</dcterms:modified>
</cp:coreProperties>
</file>